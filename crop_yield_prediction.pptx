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</c:v>
                </c:pt>
              </c:strCache>
            </c:strRef>
          </c:tx>
          <c:spPr>
            <a:solidFill>
              <a:srgbClr val="4C8C5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4332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Maize</c:v>
                </c:pt>
                <c:pt idx="1">
                  <c:v>Wheat</c:v>
                </c:pt>
                <c:pt idx="2">
                  <c:v>Sorghum</c:v>
                </c:pt>
                <c:pt idx="3">
                  <c:v>Barley</c:v>
                </c:pt>
                <c:pt idx="4">
                  <c:v>Teff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</c:v>
                </c:pt>
                <c:pt idx="1">
                  <c:v>2.8</c:v>
                </c:pt>
                <c:pt idx="2">
                  <c:v>2.61</c:v>
                </c:pt>
                <c:pt idx="3">
                  <c:v>2.47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24332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 cmpd="sng" algn="ctr">
              <a:solidFill>
                <a:srgbClr val="DDE5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5F6F6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F6F65"/>
                    </a:solidFill>
                    <a:latin typeface="Arial" panose="020B0604020202020204"/>
                  </a:rPr>
                  <a:t>Mean yield (tons/ha)</a:t>
                </a:r>
                <a:endParaRPr sz="1100" b="0" i="0" u="none" strike="noStrike">
                  <a:solidFill>
                    <a:srgbClr val="5F6F65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F6F6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2d54096-3103-4b2d-b964-3b4ab0f775fe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</c:v>
                </c:pt>
              </c:strCache>
            </c:strRef>
          </c:tx>
          <c:spPr>
            <a:ln w="38100" cap="flat" cmpd="sng" algn="ctr">
              <a:solidFill>
                <a:srgbClr val="4C8C5A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4C8C5A"/>
              </a:solidFill>
              <a:ln w="9525" cap="flat" cmpd="sng" algn="ctr">
                <a:solidFill>
                  <a:srgbClr val="4C8C5A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4332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Lowest 25%</c:v>
                </c:pt>
                <c:pt idx="1">
                  <c:v>Q2</c:v>
                </c:pt>
                <c:pt idx="2">
                  <c:v>Q3</c:v>
                </c:pt>
                <c:pt idx="3">
                  <c:v>Highest 25%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2.44</c:v>
                </c:pt>
                <c:pt idx="1">
                  <c:v>2.69</c:v>
                </c:pt>
                <c:pt idx="2">
                  <c:v>2.85</c:v>
                </c:pt>
                <c:pt idx="3">
                  <c:v>3.09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24332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  <c:min val="2"/>
        </c:scaling>
        <c:delete val="0"/>
        <c:axPos val="l"/>
        <c:majorGridlines>
          <c:spPr>
            <a:ln w="6350" cap="flat" cmpd="sng" algn="ctr">
              <a:solidFill>
                <a:srgbClr val="DDE5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F6F6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aa7d98c-42e7-4f74-b28f-437b2ec14d01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4C8C5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4332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Mean baseline</c:v>
                </c:pt>
                <c:pt idx="1">
                  <c:v>Linear reg.</c:v>
                </c:pt>
                <c:pt idx="2">
                  <c:v>Grad. Boosting</c:v>
                </c:pt>
                <c:pt idx="3">
                  <c:v>Random Forest</c:v>
                </c:pt>
                <c:pt idx="4">
                  <c:v>Neural Net</c:v>
                </c:pt>
                <c:pt idx="5">
                  <c:v>HistGB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1.413</c:v>
                </c:pt>
                <c:pt idx="1">
                  <c:v>0.898</c:v>
                </c:pt>
                <c:pt idx="2">
                  <c:v>0.644</c:v>
                </c:pt>
                <c:pt idx="3">
                  <c:v>0.525</c:v>
                </c:pt>
                <c:pt idx="4">
                  <c:v>0.49</c:v>
                </c:pt>
                <c:pt idx="5">
                  <c:v>0.473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24332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t"/>
        <c:majorGridlines>
          <c:spPr>
            <a:ln w="6350" cap="flat" cmpd="sng" algn="ctr">
              <a:solidFill>
                <a:srgbClr val="DDE5DD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5F6F6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F6F65"/>
                    </a:solidFill>
                    <a:latin typeface="Arial" panose="020B0604020202020204"/>
                  </a:rPr>
                  <a:t>Validation RMSE (tons/ha, lower is better)</a:t>
                </a:r>
                <a:endParaRPr sz="1100" b="0" i="0" u="none" strike="noStrike">
                  <a:solidFill>
                    <a:srgbClr val="5F6F65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F6F6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cb9ee29-62a2-4f71-b519-c7d6559957f0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C8C5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4332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Crop type</c:v>
                </c:pt>
                <c:pt idx="1">
                  <c:v>Altitude</c:v>
                </c:pt>
                <c:pt idx="2">
                  <c:v>Season temp.</c:v>
                </c:pt>
                <c:pt idx="3">
                  <c:v>Pest/disease</c:v>
                </c:pt>
                <c:pt idx="4">
                  <c:v>Soil quality</c:v>
                </c:pt>
                <c:pt idx="5">
                  <c:v>Improved seed</c:v>
                </c:pt>
                <c:pt idx="6">
                  <c:v>Fertilizer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0.889</c:v>
                </c:pt>
                <c:pt idx="1">
                  <c:v>0.688</c:v>
                </c:pt>
                <c:pt idx="2">
                  <c:v>0.529</c:v>
                </c:pt>
                <c:pt idx="3">
                  <c:v>0.225</c:v>
                </c:pt>
                <c:pt idx="4">
                  <c:v>0.168</c:v>
                </c:pt>
                <c:pt idx="5">
                  <c:v>0.126</c:v>
                </c:pt>
                <c:pt idx="6">
                  <c:v>0.114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24332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t"/>
        <c:majorGridlines>
          <c:spPr>
            <a:ln w="6350" cap="flat" cmpd="sng" algn="ctr">
              <a:solidFill>
                <a:srgbClr val="DDE5DD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5F6F6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F6F65"/>
                    </a:solidFill>
                    <a:latin typeface="Arial" panose="020B0604020202020204"/>
                  </a:rPr>
                  <a:t>Permutation importance (RMSE increase)</a:t>
                </a:r>
                <a:endParaRPr sz="1100" b="0" i="0" u="none" strike="noStrike">
                  <a:solidFill>
                    <a:srgbClr val="5F6F65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F6F6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3713e01-6126-4895-8541-c91c33b68efb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AI-Based Crop Yield Prediction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plot-level yield (tons/ha) across 5 Ethiopian regions and 5 crops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5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Gashaw Asheber · Fithalew Hailu · Bezawit Asfaw · Chernet Asrat · Sara Ayele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· Messy raw data became one clean master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15,090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plots (+3,750 test plots)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801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788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−999 codes found in train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801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 → 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 spellings merged to 5 regions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2801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 cols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master_train after merging and engineering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Standardised case, whitespace and codes (e.g. “Tef” → teff); median/mode fill for ~3–5% gaps in fertilizer, soil and rainfall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Joined monthly weather: planting month + next 3 months, giving season temperature, rainfall and heat-day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engineered features (rainfall ratio, heat × temp, labour per ha, cyclical planting month); market price left out of the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cleaning is written to data/processed/; raw files untouched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 · Crop and region drive the biggest yield gaps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1887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2801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1.46 vs ~3.1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74193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Somali mean yield vs the other four regions (tons/ha)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23317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24231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4.80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88493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mix: SNNPR maize (tons/ha)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0" y="34747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35661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0.83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402793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Worst mix: Somali teff (tons/ha)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 · Agronomic drivers: fertilizer helps, distance does not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F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Yield by fertilizer band (kg/ha)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188720"/>
            <a:ext cx="374904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Fertilizer: +0.65 t/ha from lowest to highest band, with gains slowing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Altitude: best band differs by crop; maize peaks at 1,400–2,000 m, wheat and teff at 2,000–2,600 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Planting month: only 0.12 t/ha spread; distance to market r = 0.005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Tigray 2024 ran +2.57 °C warm: wheat −30%, barley −28%, maize +31%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 · HistGradientBoosting gave the lowest error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280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0.888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741932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hold-out; RMSE 0.473, MAE 0.343 tons/ha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423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0.474 ± 0.014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884932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CV RMSE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566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8C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0.884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4027932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2021–23, tested on 2024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 · What the model relies on, and what tuning added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188720"/>
            <a:ext cx="32004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 features cut RMSE by 3.7% (0.491 → 0.473)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Randomised search (20 trials × 5 folds) did not beat the default: 0.483 vs 0.473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error is about 3.4 quintals/ha; 95% of errors are under 0.98 t/ha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Maize is hardest to predict (MAE 0.49); teff easiest (0.28)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3,750 test predictions: mean 2.77 t/ha, range 0.08–7.93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1939</Words>
  <Application>WPS Presentation</Application>
  <PresentationFormat>On-screen Show (16:9)</PresentationFormat>
  <Paragraphs>74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Crop Yield Prediction System</dc:title>
  <dc:creator>PptxGenJS</dc:creator>
  <dc:subject>PptxGenJS Presentation</dc:subject>
  <cp:lastModifiedBy>Lab 11</cp:lastModifiedBy>
  <cp:revision>2</cp:revision>
  <dcterms:created xsi:type="dcterms:W3CDTF">2026-10-06T14:30:00Z</dcterms:created>
  <dcterms:modified xsi:type="dcterms:W3CDTF">2026-10-06T14:33:25Z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683E2B70E04C436489E997C42686084E_12</vt:lpwstr>
  </property>
  <property fmtid="{D5CDD505-2E9C-101B-9397-08002B2CF9AE}" pid="3" name="KSOProductBuildVer">
    <vt:lpwstr>2057-12.2.0.23206</vt:lpwstr>
  </property>
</Properties>
</file>