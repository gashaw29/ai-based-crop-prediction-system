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7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AI-Based Crop Yield 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6E2DA"/>
                </a:solidFill>
                <a:latin typeface="Aptos"/>
              </a:defRPr>
            </a:pPr>
            <a:r>
              <a:rPr dirty="0"/>
              <a:t>Predicting plot-level yield (tons/ha) across 5 Ethiopian regions and 5 crops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rPr sz="1400" dirty="0" err="1">
                <a:latin typeface="Cambria" pitchFamily="18" charset="0"/>
                <a:ea typeface="Cambria" pitchFamily="18" charset="0"/>
              </a:rPr>
              <a:t>Gashaw</a:t>
            </a:r>
            <a:r>
              <a:rPr sz="1400" dirty="0">
                <a:latin typeface="Cambria" pitchFamily="18" charset="0"/>
                <a:ea typeface="Cambria" pitchFamily="18" charset="0"/>
              </a:rPr>
              <a:t> </a:t>
            </a:r>
            <a:r>
              <a:rPr sz="1400" dirty="0" err="1">
                <a:latin typeface="Cambria" pitchFamily="18" charset="0"/>
                <a:ea typeface="Cambria" pitchFamily="18" charset="0"/>
              </a:rPr>
              <a:t>Asheber</a:t>
            </a:r>
            <a:r>
              <a:rPr sz="1400" dirty="0">
                <a:latin typeface="Cambria" pitchFamily="18" charset="0"/>
                <a:ea typeface="Cambria" pitchFamily="18" charset="0"/>
              </a:rPr>
              <a:t>  ·  </a:t>
            </a:r>
            <a:r>
              <a:rPr sz="1400" dirty="0" err="1">
                <a:latin typeface="Cambria" pitchFamily="18" charset="0"/>
                <a:ea typeface="Cambria" pitchFamily="18" charset="0"/>
              </a:rPr>
              <a:t>Fithalew</a:t>
            </a:r>
            <a:r>
              <a:rPr sz="1400" dirty="0">
                <a:latin typeface="Cambria" pitchFamily="18" charset="0"/>
                <a:ea typeface="Cambria" pitchFamily="18" charset="0"/>
              </a:rPr>
              <a:t> </a:t>
            </a:r>
            <a:r>
              <a:rPr sz="1400" dirty="0" err="1">
                <a:latin typeface="Cambria" pitchFamily="18" charset="0"/>
                <a:ea typeface="Cambria" pitchFamily="18" charset="0"/>
              </a:rPr>
              <a:t>Hailu</a:t>
            </a:r>
            <a:r>
              <a:rPr sz="1400" dirty="0">
                <a:latin typeface="Cambria" pitchFamily="18" charset="0"/>
                <a:ea typeface="Cambria" pitchFamily="18" charset="0"/>
              </a:rPr>
              <a:t>  ·  </a:t>
            </a:r>
            <a:r>
              <a:rPr sz="1400" dirty="0" err="1">
                <a:latin typeface="Cambria" pitchFamily="18" charset="0"/>
                <a:ea typeface="Cambria" pitchFamily="18" charset="0"/>
              </a:rPr>
              <a:t>Bezawit</a:t>
            </a:r>
            <a:r>
              <a:rPr sz="1400" dirty="0">
                <a:latin typeface="Cambria" pitchFamily="18" charset="0"/>
                <a:ea typeface="Cambria" pitchFamily="18" charset="0"/>
              </a:rPr>
              <a:t> </a:t>
            </a:r>
            <a:r>
              <a:rPr sz="1400" dirty="0" err="1">
                <a:latin typeface="Cambria" pitchFamily="18" charset="0"/>
                <a:ea typeface="Cambria" pitchFamily="18" charset="0"/>
              </a:rPr>
              <a:t>Asfaw</a:t>
            </a:r>
            <a:r>
              <a:rPr sz="1400" dirty="0">
                <a:latin typeface="Cambria" pitchFamily="18" charset="0"/>
                <a:ea typeface="Cambria" pitchFamily="18" charset="0"/>
              </a:rPr>
              <a:t>  ·  </a:t>
            </a:r>
            <a:r>
              <a:rPr sz="1400" dirty="0" err="1">
                <a:latin typeface="Cambria" pitchFamily="18" charset="0"/>
                <a:ea typeface="Cambria" pitchFamily="18" charset="0"/>
              </a:rPr>
              <a:t>Chernet</a:t>
            </a:r>
            <a:r>
              <a:rPr sz="1400" dirty="0">
                <a:latin typeface="Cambria" pitchFamily="18" charset="0"/>
                <a:ea typeface="Cambria" pitchFamily="18" charset="0"/>
              </a:rPr>
              <a:t> </a:t>
            </a:r>
            <a:r>
              <a:rPr sz="1400" dirty="0" err="1">
                <a:latin typeface="Cambria" pitchFamily="18" charset="0"/>
                <a:ea typeface="Cambria" pitchFamily="18" charset="0"/>
              </a:rPr>
              <a:t>Asrat</a:t>
            </a:r>
            <a:r>
              <a:rPr sz="1400" dirty="0">
                <a:latin typeface="Cambria" pitchFamily="18" charset="0"/>
                <a:ea typeface="Cambria" pitchFamily="18" charset="0"/>
              </a:rPr>
              <a:t>  ·  Sara </a:t>
            </a:r>
            <a:r>
              <a:rPr sz="1400" dirty="0" err="1">
                <a:latin typeface="Cambria" pitchFamily="18" charset="0"/>
                <a:ea typeface="Cambria" pitchFamily="18" charset="0"/>
              </a:rPr>
              <a:t>Ayele</a:t>
            </a:r>
            <a:endParaRPr sz="1400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A42"/>
                </a:solidFill>
                <a:latin typeface="Aptos"/>
              </a:defRPr>
            </a:pPr>
            <a:r>
              <a:t>1. Problem, data and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514600" cy="123444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TRAINING PLOTS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19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15,090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84831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plot-level 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80160"/>
            <a:ext cx="2514600" cy="123444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79" y="138988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UNSEEN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645919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9B3A"/>
                </a:solidFill>
                <a:latin typeface="Aptos"/>
              </a:defRPr>
            </a:pPr>
            <a:r>
              <a:t>3,750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084831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reserved for final 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280160"/>
            <a:ext cx="2514600" cy="123444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138988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REGIONS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45919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084831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Ethiopian regions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280160"/>
            <a:ext cx="2514600" cy="123444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0" y="138988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CROPS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645919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84831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maize, wheat, sorghum, barley, teff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15468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22A42"/>
                </a:solidFill>
                <a:latin typeface="Aptos"/>
              </a:defRPr>
            </a:pPr>
            <a:r>
              <a:rPr dirty="0"/>
              <a:t>Can we predict plot-level crop yield from agricultural, soil, altitude and weather conditions?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78892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22A42"/>
                </a:solidFill>
                <a:latin typeface="Aptos"/>
              </a:defRPr>
            </a:pPr>
            <a:r>
              <a:rPr dirty="0"/>
              <a:t>• Target: </a:t>
            </a:r>
            <a:r>
              <a:rPr dirty="0" err="1"/>
              <a:t>yield_tons_per_ha</a:t>
            </a: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122A42"/>
                </a:solidFill>
                <a:latin typeface="Aptos"/>
              </a:defRPr>
            </a:pPr>
            <a:r>
              <a:rPr dirty="0"/>
              <a:t>• Supervised machine learning → regression</a:t>
            </a:r>
          </a:p>
          <a:p>
            <a:pPr>
              <a:spcAft>
                <a:spcPts val="700"/>
              </a:spcAft>
              <a:defRPr sz="1500">
                <a:solidFill>
                  <a:srgbClr val="122A42"/>
                </a:solidFill>
                <a:latin typeface="Aptos"/>
              </a:defRPr>
            </a:pPr>
            <a:r>
              <a:rPr dirty="0"/>
              <a:t>• 80/20 train-validation split</a:t>
            </a:r>
          </a:p>
          <a:p>
            <a:pPr>
              <a:spcAft>
                <a:spcPts val="700"/>
              </a:spcAft>
              <a:defRPr sz="1500">
                <a:solidFill>
                  <a:srgbClr val="122A42"/>
                </a:solidFill>
                <a:latin typeface="Aptos"/>
              </a:defRPr>
            </a:pPr>
            <a:r>
              <a:rPr dirty="0"/>
              <a:t>• Test set reserved for final prediction</a:t>
            </a:r>
          </a:p>
          <a:p>
            <a:pPr>
              <a:spcAft>
                <a:spcPts val="700"/>
              </a:spcAft>
              <a:defRPr sz="1500">
                <a:solidFill>
                  <a:srgbClr val="122A42"/>
                </a:solidFill>
                <a:latin typeface="Aptos"/>
              </a:defRPr>
            </a:pPr>
            <a:r>
              <a:rPr dirty="0"/>
              <a:t>• Goal: accurate and generalizable yield estimates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6E78"/>
                </a:solidFill>
                <a:latin typeface="Aptos"/>
              </a:defRPr>
            </a:pPr>
            <a:r>
              <a:t>AI-Based Crop Yield Prediction System  •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A42"/>
                </a:solidFill>
                <a:latin typeface="Aptos"/>
              </a:defRPr>
            </a:pPr>
            <a:r>
              <a:t>2. Cleaning and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514600" cy="114300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HIDDEN MISSING CODES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B443E"/>
                </a:solidFill>
                <a:latin typeface="Aptos"/>
              </a:defRPr>
            </a:pPr>
            <a:r>
              <a:t>788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−999 codes identified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234440"/>
            <a:ext cx="2514600" cy="114300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3441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REGION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19 →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0391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standardized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1234440"/>
            <a:ext cx="2514600" cy="114300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6" y="13441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MASTER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0391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after merge + engineering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41664" y="1234440"/>
            <a:ext cx="2514600" cy="114300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78824" y="134416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ENGINEERED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16002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9B3A"/>
                </a:solidFill>
                <a:latin typeface="Aptos"/>
              </a:defRPr>
            </a:pPr>
            <a:r>
              <a:rPr dirty="0"/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03911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new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6F48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0632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22A42"/>
                </a:solidFill>
                <a:latin typeface="Aptos"/>
              </a:defRPr>
            </a:pPr>
            <a:r>
              <a:rPr dirty="0"/>
              <a:t>• Converted −999 to missing values</a:t>
            </a:r>
          </a:p>
          <a:p>
            <a:pPr>
              <a:spcAft>
                <a:spcPts val="700"/>
              </a:spcAft>
              <a:defRPr sz="1300">
                <a:solidFill>
                  <a:srgbClr val="122A42"/>
                </a:solidFill>
                <a:latin typeface="Aptos"/>
              </a:defRPr>
            </a:pPr>
            <a:r>
              <a:rPr dirty="0"/>
              <a:t>• Standardized case, whitespace and crop labels (e.g. </a:t>
            </a:r>
            <a:r>
              <a:rPr dirty="0" err="1"/>
              <a:t>Tef</a:t>
            </a:r>
            <a:r>
              <a:rPr dirty="0"/>
              <a:t> → </a:t>
            </a:r>
            <a:r>
              <a:rPr dirty="0" err="1"/>
              <a:t>teff</a:t>
            </a:r>
            <a:r>
              <a:rPr dirty="0"/>
              <a:t>)</a:t>
            </a:r>
          </a:p>
          <a:p>
            <a:pPr>
              <a:spcAft>
                <a:spcPts val="700"/>
              </a:spcAft>
              <a:defRPr sz="1300">
                <a:solidFill>
                  <a:srgbClr val="122A42"/>
                </a:solidFill>
                <a:latin typeface="Aptos"/>
              </a:defRPr>
            </a:pPr>
            <a:r>
              <a:rPr dirty="0"/>
              <a:t>• </a:t>
            </a:r>
            <a:r>
              <a:rPr dirty="0" smtClean="0"/>
              <a:t>Median/mode </a:t>
            </a:r>
            <a:r>
              <a:rPr dirty="0"/>
              <a:t>fill for documented ~3–5% gaps in fertilizer, soil and rainfall</a:t>
            </a:r>
          </a:p>
          <a:p>
            <a:pPr>
              <a:spcAft>
                <a:spcPts val="700"/>
              </a:spcAft>
              <a:defRPr sz="1300">
                <a:solidFill>
                  <a:srgbClr val="122A42"/>
                </a:solidFill>
                <a:latin typeface="Aptos"/>
              </a:defRPr>
            </a:pPr>
            <a:r>
              <a:rPr dirty="0"/>
              <a:t>• Duplicates were checked; no documented duplicate-row removal was required</a:t>
            </a:r>
          </a:p>
          <a:p>
            <a:pPr>
              <a:spcAft>
                <a:spcPts val="700"/>
              </a:spcAft>
              <a:defRPr sz="1300">
                <a:solidFill>
                  <a:srgbClr val="122A42"/>
                </a:solidFill>
                <a:latin typeface="Aptos"/>
              </a:defRPr>
            </a:pPr>
            <a:r>
              <a:rPr dirty="0"/>
              <a:t>• Raw files preserved; cleaned outputs written to processed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697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6F48"/>
                </a:solidFill>
                <a:latin typeface="Aptos"/>
              </a:defRPr>
            </a:pPr>
            <a:r>
              <a:t>Integration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3063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2A42"/>
                </a:solidFill>
                <a:latin typeface="Aptos"/>
              </a:defRPr>
            </a:pPr>
            <a:r>
              <a:rPr dirty="0"/>
              <a:t>LEFT JOIN: crop-yield plots → regional monthly weather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886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22A42"/>
                </a:solidFill>
                <a:latin typeface="Aptos"/>
              </a:defRPr>
            </a:pPr>
            <a:r>
              <a:rPr dirty="0"/>
              <a:t>Weather selected by standardized region and growing-season window:</a:t>
            </a:r>
            <a:br>
              <a:rPr dirty="0"/>
            </a:br>
            <a:r>
              <a:rPr dirty="0"/>
              <a:t>planting month + following 3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2120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06E78"/>
                </a:solidFill>
                <a:latin typeface="Aptos"/>
              </a:defRPr>
            </a:pPr>
            <a:r>
              <a:t>Output: seasonal temperature, rainfall and heat-related features.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6E78"/>
                </a:solidFill>
                <a:latin typeface="Aptos"/>
              </a:defRPr>
            </a:pPr>
            <a:r>
              <a:t>AI-Based Crop Yield Prediction System  •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A42"/>
                </a:solidFill>
                <a:latin typeface="Aptos"/>
              </a:defRPr>
            </a:pPr>
            <a:r>
              <a:t>3. EDA: where are the biggest yield gaps?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2560320" cy="114300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SOMALI 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B443E"/>
                </a:solidFill>
                <a:latin typeface="Aptos"/>
              </a:defRPr>
            </a:pPr>
            <a:r>
              <a:t>1.46 t/ha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vs ~3.1 in other four regions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560320" cy="114300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298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BEST 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4.80 t/ha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93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rPr dirty="0"/>
              <a:t>SNNPR maize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188720"/>
            <a:ext cx="2560320" cy="114300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298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WORST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B443E"/>
                </a:solidFill>
                <a:latin typeface="Aptos"/>
              </a:defRPr>
            </a:pPr>
            <a:r>
              <a:t>0.83 t/ha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93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Somali teff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188720"/>
            <a:ext cx="2560320" cy="114300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298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rPr dirty="0"/>
              <a:t>MARKET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06E78"/>
                </a:solidFill>
                <a:latin typeface="Aptos"/>
              </a:defRPr>
            </a:pPr>
            <a:r>
              <a:t>r = 0.005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993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t>no meaningful linear relationship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97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F48"/>
                </a:solidFill>
                <a:latin typeface="Aptos"/>
              </a:defRPr>
            </a:pPr>
            <a:r>
              <a:t>Mean yield by crop (tons/ha)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1546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Maize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3172968"/>
            <a:ext cx="3226525" cy="246888"/>
          </a:xfrm>
          <a:prstGeom prst="rect">
            <a:avLst/>
          </a:prstGeom>
          <a:solidFill>
            <a:srgbClr val="2E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7800" y="31546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3.90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6301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Wheat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3648456"/>
            <a:ext cx="2316479" cy="246888"/>
          </a:xfrm>
          <a:prstGeom prst="rect">
            <a:avLst/>
          </a:prstGeom>
          <a:solidFill>
            <a:srgbClr val="2E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57800" y="36301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2.80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1056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Sorghum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4123944"/>
            <a:ext cx="2159290" cy="246888"/>
          </a:xfrm>
          <a:prstGeom prst="rect">
            <a:avLst/>
          </a:prstGeom>
          <a:solidFill>
            <a:srgbClr val="2E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57800" y="410565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2.61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58114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Barley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4599431"/>
            <a:ext cx="2043466" cy="246888"/>
          </a:xfrm>
          <a:prstGeom prst="rect">
            <a:avLst/>
          </a:prstGeom>
          <a:solidFill>
            <a:srgbClr val="2E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800" y="45811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2.47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0566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Teff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91640" y="5074920"/>
            <a:ext cx="1654628" cy="246888"/>
          </a:xfrm>
          <a:prstGeom prst="rect">
            <a:avLst/>
          </a:prstGeom>
          <a:solidFill>
            <a:srgbClr val="2E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57800" y="50566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2A42"/>
                </a:solidFill>
                <a:latin typeface="Aptos"/>
              </a:defRPr>
            </a:pPr>
            <a:r>
              <a:t>2.00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F48"/>
                </a:solidFill>
                <a:latin typeface="Aptos"/>
              </a:defRPr>
            </a:pPr>
            <a:r>
              <a:t>Agronomic signals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10896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22A42"/>
                </a:solidFill>
                <a:latin typeface="Aptos"/>
              </a:defRPr>
            </a:pPr>
            <a:r>
              <a:rPr dirty="0"/>
              <a:t>• Fertilizer: +0.65 t/ha from lowest to highest band, with diminishing gains</a:t>
            </a:r>
          </a:p>
          <a:p>
            <a:pPr>
              <a:spcAft>
                <a:spcPts val="700"/>
              </a:spcAft>
              <a:defRPr sz="1300">
                <a:solidFill>
                  <a:srgbClr val="122A42"/>
                </a:solidFill>
                <a:latin typeface="Aptos"/>
              </a:defRPr>
            </a:pPr>
            <a:r>
              <a:rPr dirty="0"/>
              <a:t>• Altitude: maize peaks around </a:t>
            </a:r>
            <a:r>
              <a:rPr dirty="0" smtClean="0"/>
              <a:t>1,400–2,000 </a:t>
            </a:r>
            <a:r>
              <a:rPr dirty="0"/>
              <a:t>m; wheat and </a:t>
            </a:r>
            <a:r>
              <a:rPr dirty="0" err="1"/>
              <a:t>teff</a:t>
            </a:r>
            <a:r>
              <a:rPr dirty="0"/>
              <a:t> around 2,000–2,600 m</a:t>
            </a:r>
          </a:p>
          <a:p>
            <a:pPr>
              <a:spcAft>
                <a:spcPts val="700"/>
              </a:spcAft>
              <a:defRPr sz="1300">
                <a:solidFill>
                  <a:srgbClr val="122A42"/>
                </a:solidFill>
                <a:latin typeface="Aptos"/>
              </a:defRPr>
            </a:pPr>
            <a:r>
              <a:rPr dirty="0"/>
              <a:t>• Planting month: only 0.12 t/ha spread</a:t>
            </a:r>
          </a:p>
          <a:p>
            <a:pPr>
              <a:spcAft>
                <a:spcPts val="700"/>
              </a:spcAft>
              <a:defRPr sz="1300">
                <a:solidFill>
                  <a:srgbClr val="122A42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Tigray</a:t>
            </a:r>
            <a:r>
              <a:rPr dirty="0"/>
              <a:t> 2024 temperature anomaly: +2.57°C; observed yield changes differed by crop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65392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6E78"/>
                </a:solidFill>
                <a:latin typeface="Aptos"/>
              </a:defRPr>
            </a:pPr>
            <a:r>
              <a:t>AI-Based Crop Yield Prediction System  •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A42"/>
                </a:solidFill>
                <a:latin typeface="Aptos"/>
              </a:defRPr>
            </a:pPr>
            <a:r>
              <a:t>4. Feature engineering and model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6F48"/>
                </a:solidFill>
                <a:latin typeface="Aptos"/>
              </a:defRPr>
            </a:pPr>
            <a:r>
              <a:t>Three essential engineered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337560" cy="132588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SEASON RAIN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4-month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3337560" cy="132588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264408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RAIN × 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3337560" cy="132588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818888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TEMPERATURE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observed − regional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188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6F48"/>
                </a:solidFill>
                <a:latin typeface="Aptos"/>
              </a:defRPr>
            </a:pPr>
            <a:r>
              <a:t>Why HistGradientBoosting?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600200"/>
            <a:ext cx="685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22A42"/>
                </a:solidFill>
                <a:latin typeface="Aptos"/>
              </a:defRPr>
            </a:pPr>
            <a:r>
              <a:rPr dirty="0"/>
              <a:t>• Yield relationships are nonlinear and contain interactions</a:t>
            </a:r>
          </a:p>
          <a:p>
            <a:pPr>
              <a:spcAft>
                <a:spcPts val="700"/>
              </a:spcAft>
              <a:defRPr sz="1400">
                <a:solidFill>
                  <a:srgbClr val="122A42"/>
                </a:solidFill>
                <a:latin typeface="Aptos"/>
              </a:defRPr>
            </a:pPr>
            <a:r>
              <a:rPr dirty="0"/>
              <a:t>• Tree boosting captures thresholds and interactions</a:t>
            </a:r>
          </a:p>
          <a:p>
            <a:pPr>
              <a:spcAft>
                <a:spcPts val="700"/>
              </a:spcAft>
              <a:defRPr sz="1400">
                <a:solidFill>
                  <a:srgbClr val="122A42"/>
                </a:solidFill>
                <a:latin typeface="Aptos"/>
              </a:defRPr>
            </a:pPr>
            <a:r>
              <a:rPr dirty="0"/>
              <a:t>• Each new tree learns from errors left by previous trees</a:t>
            </a:r>
          </a:p>
          <a:p>
            <a:pPr>
              <a:spcAft>
                <a:spcPts val="700"/>
              </a:spcAft>
              <a:defRPr sz="1400">
                <a:solidFill>
                  <a:srgbClr val="122A42"/>
                </a:solidFill>
                <a:latin typeface="Aptos"/>
              </a:defRPr>
            </a:pPr>
            <a:r>
              <a:rPr dirty="0"/>
              <a:t>• Histogram-based training is computationally efficient</a:t>
            </a:r>
          </a:p>
          <a:p>
            <a:pPr>
              <a:spcAft>
                <a:spcPts val="700"/>
              </a:spcAft>
              <a:defRPr sz="1400">
                <a:solidFill>
                  <a:srgbClr val="122A42"/>
                </a:solidFill>
                <a:latin typeface="Aptos"/>
              </a:defRPr>
            </a:pPr>
            <a:r>
              <a:rPr dirty="0"/>
              <a:t>• It achieved the best validation performance among tested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93192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6F48"/>
                </a:solidFill>
                <a:latin typeface="Aptos"/>
              </a:defRPr>
            </a:pPr>
            <a:r>
              <a:rPr dirty="0"/>
              <a:t>Validation RMSE — lower is 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4297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Linear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4315968"/>
            <a:ext cx="3923182" cy="182880"/>
          </a:xfrm>
          <a:prstGeom prst="rect">
            <a:avLst/>
          </a:prstGeom>
          <a:solidFill>
            <a:srgbClr val="60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429768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0.898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65429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Grad. Boosting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4672583"/>
            <a:ext cx="2813507" cy="182880"/>
          </a:xfrm>
          <a:prstGeom prst="rect">
            <a:avLst/>
          </a:prstGeom>
          <a:solidFill>
            <a:srgbClr val="60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465429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0.644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50109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5029200"/>
            <a:ext cx="2293620" cy="182880"/>
          </a:xfrm>
          <a:prstGeom prst="rect">
            <a:avLst/>
          </a:prstGeom>
          <a:solidFill>
            <a:srgbClr val="60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0" y="50109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0.525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5367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Neural Net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5385816"/>
            <a:ext cx="2140711" cy="182880"/>
          </a:xfrm>
          <a:prstGeom prst="rect">
            <a:avLst/>
          </a:prstGeom>
          <a:solidFill>
            <a:srgbClr val="60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0" y="5367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0.490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57241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HistGradientBoosting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5742431"/>
            <a:ext cx="2066442" cy="182880"/>
          </a:xfrm>
          <a:prstGeom prst="rect">
            <a:avLst/>
          </a:prstGeom>
          <a:solidFill>
            <a:srgbClr val="2E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84080" y="57241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2A42"/>
                </a:solidFill>
                <a:latin typeface="Aptos"/>
              </a:defRPr>
            </a:pPr>
            <a:r>
              <a:t>0.473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65392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6E78"/>
                </a:solidFill>
                <a:latin typeface="Aptos"/>
              </a:defRPr>
            </a:pPr>
            <a:r>
              <a:t>AI-Based Crop Yield Prediction System  •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19_actual_vs_predict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631" y="669640"/>
            <a:ext cx="5849079" cy="572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7_test_prediction_distribu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62" y="957944"/>
            <a:ext cx="6076538" cy="535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97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A42"/>
                </a:solidFill>
                <a:latin typeface="Aptos"/>
              </a:defRPr>
            </a:pPr>
            <a:r>
              <a:rPr dirty="0"/>
              <a:t>5. Model </a:t>
            </a:r>
            <a:r>
              <a:rPr dirty="0" smtClean="0"/>
              <a:t>evaluation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468880" cy="123444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HOLD-OUT RMSE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0.4734 t/ha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34440"/>
            <a:ext cx="2468880" cy="123444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79" y="13441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HOLD-OUT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0.3427 t/ha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2468880" cy="123444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3441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6F48"/>
                </a:solidFill>
                <a:latin typeface="Aptos"/>
              </a:defRPr>
            </a:pPr>
            <a:r>
              <a:t>0.8877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234440"/>
            <a:ext cx="2468880" cy="1234440"/>
          </a:xfrm>
          <a:prstGeom prst="roundRect">
            <a:avLst/>
          </a:prstGeom>
          <a:solidFill>
            <a:srgbClr val="F4F7F4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0" y="134416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06E78"/>
                </a:solidFill>
                <a:latin typeface="Aptos"/>
              </a:defRPr>
            </a:pPr>
            <a:r>
              <a:t>5-FOLD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9B3A"/>
                </a:solidFill>
                <a:latin typeface="Aptos"/>
              </a:defRPr>
            </a:pPr>
            <a:r>
              <a:t>0.474 ± 0.014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0391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06E78"/>
                </a:solidFill>
                <a:latin typeface="Aptos"/>
              </a:defRPr>
            </a:pPr>
            <a:r>
              <a:rPr dirty="0"/>
              <a:t>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6F48"/>
                </a:solidFill>
                <a:latin typeface="Aptos"/>
              </a:defRPr>
            </a:pPr>
            <a:r>
              <a:t>Robustness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22A42"/>
                </a:solidFill>
                <a:latin typeface="Aptos"/>
              </a:defRPr>
            </a:pPr>
            <a:r>
              <a:t>• Out-of-time: train 2021–2023 → test 2024; R² = 0.884</a:t>
            </a:r>
          </a:p>
          <a:p>
            <a:pPr>
              <a:spcAft>
                <a:spcPts val="700"/>
              </a:spcAft>
              <a:defRPr sz="1400">
                <a:solidFill>
                  <a:srgbClr val="122A42"/>
                </a:solidFill>
                <a:latin typeface="Aptos"/>
              </a:defRPr>
            </a:pPr>
            <a:r>
              <a:t>• Weather ablation: RMSE 0.491 without weather vs 0.473 with weather</a:t>
            </a:r>
          </a:p>
          <a:p>
            <a:pPr>
              <a:spcAft>
                <a:spcPts val="700"/>
              </a:spcAft>
              <a:defRPr sz="1400">
                <a:solidFill>
                  <a:srgbClr val="122A42"/>
                </a:solidFill>
                <a:latin typeface="Aptos"/>
              </a:defRPr>
            </a:pPr>
            <a:r>
              <a:t>• Weather reduced RMSE by ~3.7%</a:t>
            </a:r>
          </a:p>
          <a:p>
            <a:pPr>
              <a:spcAft>
                <a:spcPts val="700"/>
              </a:spcAft>
              <a:defRPr sz="1400">
                <a:solidFill>
                  <a:srgbClr val="122A42"/>
                </a:solidFill>
                <a:latin typeface="Aptos"/>
              </a:defRPr>
            </a:pPr>
            <a:r>
              <a:t>• 20-trial × 5-fold tuning gave 0.483, worse than 0.473, so default model retained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6F48"/>
                </a:solidFill>
                <a:latin typeface="Aptos"/>
              </a:defRPr>
            </a:pPr>
            <a:r>
              <a:t>Final unseen test predictions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3108960"/>
            <a:ext cx="4754880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22A42"/>
                </a:solidFill>
                <a:latin typeface="Aptos"/>
              </a:defRPr>
            </a:pPr>
            <a:r>
              <a:rPr dirty="0"/>
              <a:t>• 3,750 unseen test plots</a:t>
            </a:r>
          </a:p>
          <a:p>
            <a:pPr>
              <a:spcAft>
                <a:spcPts val="700"/>
              </a:spcAft>
              <a:defRPr sz="1500">
                <a:solidFill>
                  <a:srgbClr val="122A42"/>
                </a:solidFill>
                <a:latin typeface="Aptos"/>
              </a:defRPr>
            </a:pPr>
            <a:r>
              <a:rPr dirty="0"/>
              <a:t>• Mean predicted yield: 2.77 t/ha</a:t>
            </a:r>
          </a:p>
          <a:p>
            <a:pPr>
              <a:spcAft>
                <a:spcPts val="700"/>
              </a:spcAft>
              <a:defRPr sz="1500">
                <a:solidFill>
                  <a:srgbClr val="122A42"/>
                </a:solidFill>
                <a:latin typeface="Aptos"/>
              </a:defRPr>
            </a:pPr>
            <a:r>
              <a:rPr dirty="0"/>
              <a:t>• Range: 0.08–7.93 </a:t>
            </a:r>
            <a:r>
              <a:rPr dirty="0" smtClean="0"/>
              <a:t>t/ha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530352" y="6565392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6E78"/>
                </a:solidFill>
                <a:latin typeface="Aptos"/>
              </a:defRPr>
            </a:pPr>
            <a:r>
              <a:t>AI-Based Crop Yield Prediction System  •  6/7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6. What the model learned and how it becomes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9B3A"/>
                </a:solidFill>
                <a:latin typeface="Aptos"/>
              </a:defRPr>
            </a:pPr>
            <a:r>
              <a:t>Strongest predictive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898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Crop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1408176"/>
            <a:ext cx="2980639" cy="201168"/>
          </a:xfrm>
          <a:prstGeom prst="rect">
            <a:avLst/>
          </a:prstGeom>
          <a:solidFill>
            <a:srgbClr val="D4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0" y="13898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0.889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28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Altitude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911096"/>
            <a:ext cx="2306726" cy="201168"/>
          </a:xfrm>
          <a:prstGeom prst="rect">
            <a:avLst/>
          </a:prstGeom>
          <a:solidFill>
            <a:srgbClr val="D4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89280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0.688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Season temperature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414016"/>
            <a:ext cx="1773631" cy="201168"/>
          </a:xfrm>
          <a:prstGeom prst="rect">
            <a:avLst/>
          </a:prstGeom>
          <a:solidFill>
            <a:srgbClr val="D4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23957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0.529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Pest/disease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2916936"/>
            <a:ext cx="754380" cy="201168"/>
          </a:xfrm>
          <a:prstGeom prst="rect">
            <a:avLst/>
          </a:prstGeom>
          <a:solidFill>
            <a:srgbClr val="D4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289864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0.225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15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Soil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3419856"/>
            <a:ext cx="563270" cy="201168"/>
          </a:xfrm>
          <a:prstGeom prst="rect">
            <a:avLst/>
          </a:prstGeom>
          <a:solidFill>
            <a:srgbClr val="D4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340156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0.168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0448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Improved seed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3922775"/>
            <a:ext cx="422452" cy="201168"/>
          </a:xfrm>
          <a:prstGeom prst="rect">
            <a:avLst/>
          </a:prstGeom>
          <a:solidFill>
            <a:srgbClr val="D4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0" y="3904487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0.126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074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Fertilizer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4425696"/>
            <a:ext cx="382219" cy="201168"/>
          </a:xfrm>
          <a:prstGeom prst="rect">
            <a:avLst/>
          </a:prstGeom>
          <a:solidFill>
            <a:srgbClr val="D4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0" y="440740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0.114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005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9B3A"/>
                </a:solidFill>
                <a:latin typeface="Aptos"/>
              </a:defRPr>
            </a:pPr>
            <a:r>
              <a:t>Decision-support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89888"/>
            <a:ext cx="502920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• Predict expected yield before harvest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• Identify plots or regions with lower expected performance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• Combine predicted yield with a valid market price for potential revenue estimates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• Use predictive drivers to guide targeted agronomic investigation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400800" y="4160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9B3A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26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The value is not only prediction. It is turning heterogeneous agricultural data into evidence for where attention and resources may be needed.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80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Final model: HistGradientBoosting  •  RMSE 0.4734  •  MAE 0.3427  •  R² 0.8877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65392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ECDC6"/>
                </a:solidFill>
                <a:latin typeface="Aptos"/>
              </a:defRPr>
            </a:pPr>
            <a:r>
              <a:t>AI-Based Crop Yield Prediction System  •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681</Words>
  <Application>Microsoft Office PowerPoint</Application>
  <PresentationFormat>Custom</PresentationFormat>
  <Paragraphs>148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F-Lab</cp:lastModifiedBy>
  <cp:revision>20</cp:revision>
  <dcterms:created xsi:type="dcterms:W3CDTF">2013-01-27T09:14:16Z</dcterms:created>
  <dcterms:modified xsi:type="dcterms:W3CDTF">2026-10-08T08:26:25Z</dcterms:modified>
  <cp:category/>
</cp:coreProperties>
</file>